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2" autoAdjust="0"/>
    <p:restoredTop sz="94660"/>
  </p:normalViewPr>
  <p:slideViewPr>
    <p:cSldViewPr>
      <p:cViewPr>
        <p:scale>
          <a:sx n="118" d="100"/>
          <a:sy n="118" d="100"/>
        </p:scale>
        <p:origin x="-750" y="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25589-6C2F-481C-A7B9-635B01A0B68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C9D22F-6460-473D-8B0F-133E6C94D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56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Прямоугольник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Прямоугольник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Прямоугольник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Прямоугольник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0" name="Скругленный прямоугольник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1" name="Скругленный прямоугольник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24.11.2025</a:t>
            </a:fld>
            <a:endParaRPr lang="ru-RU" dirty="0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Дата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4C71EC6-210F-42DE-9C53-41977AD35B3D}" type="datetimeFigureOut">
              <a:rPr lang="ru-RU" smtClean="0"/>
              <a:t>24.11.2025</a:t>
            </a:fld>
            <a:endParaRPr lang="ru-RU" dirty="0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24.11.2025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24.11.2025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dirty="0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1" name="Прямоугольник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Прямоугольник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3" name="Скругленный прямоугольник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4" name="Скругленный прямоугольник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5" name="Прямоугольник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Прямоугольник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Прямоугольник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8" name="Прямоугольник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9" name="Прямоугольник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Прямоугольник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24.11.2025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9552" y="2564904"/>
            <a:ext cx="8064896" cy="864096"/>
          </a:xfrm>
        </p:spPr>
        <p:txBody>
          <a:bodyPr>
            <a:noAutofit/>
          </a:bodyPr>
          <a:lstStyle/>
          <a:p>
            <a:r>
              <a:rPr lang="ru-RU" sz="3200" dirty="0" smtClean="0"/>
              <a:t>Выбор источникови приема данных. Сопопставление объектов данных 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148064" y="4365104"/>
            <a:ext cx="3808512" cy="1752600"/>
          </a:xfrm>
        </p:spPr>
        <p:txBody>
          <a:bodyPr>
            <a:normAutofit/>
          </a:bodyPr>
          <a:lstStyle/>
          <a:p>
            <a:pPr algn="r"/>
            <a:r>
              <a:rPr lang="ru-RU" sz="1600" dirty="0" smtClean="0"/>
              <a:t>Работу выполнили</a:t>
            </a:r>
          </a:p>
          <a:p>
            <a:pPr algn="r"/>
            <a:r>
              <a:rPr lang="ru-RU" sz="1600" dirty="0" smtClean="0"/>
              <a:t>Студенты группы ИС-21:</a:t>
            </a:r>
          </a:p>
          <a:p>
            <a:pPr algn="r"/>
            <a:r>
              <a:rPr lang="ru-RU" sz="1600" dirty="0" smtClean="0"/>
              <a:t>Аббасов Т.И</a:t>
            </a:r>
          </a:p>
          <a:p>
            <a:pPr algn="r"/>
            <a:r>
              <a:rPr lang="ru-RU" sz="1600" dirty="0" smtClean="0"/>
              <a:t>Никифоров.С.А</a:t>
            </a:r>
            <a:endParaRPr lang="ru-R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3563888" y="551214"/>
            <a:ext cx="18197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600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БПОУ ВО </a:t>
            </a:r>
            <a:r>
              <a:rPr lang="en-US" sz="1600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“</a:t>
            </a:r>
            <a:r>
              <a:rPr lang="ru-RU" sz="1600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ЧЛМТ</a:t>
            </a:r>
            <a:r>
              <a:rPr lang="en-US" sz="1600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”</a:t>
            </a:r>
            <a:endParaRPr lang="ru-RU" sz="1600" dirty="0">
              <a:solidFill>
                <a:schemeClr val="bg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51214"/>
            <a:ext cx="864096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99592" y="3666647"/>
            <a:ext cx="8090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85000"/>
                  </a:schemeClr>
                </a:solidFill>
              </a:rPr>
              <a:t>__________________________________________________________________</a:t>
            </a:r>
            <a:endParaRPr lang="ru-RU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165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avatars.mds.yandex.net/i?id=ca4d3401fef77cccf697bfa8660f27c893240121-5279994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861048"/>
            <a:ext cx="3888432" cy="255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95936" y="908720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Rubik" pitchFamily="2" charset="-79"/>
                <a:cs typeface="Rubik" pitchFamily="2" charset="-79"/>
              </a:rPr>
              <a:t>Введение</a:t>
            </a:r>
            <a:endParaRPr lang="ru-RU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5512" y="1628800"/>
            <a:ext cx="6883616" cy="38318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 smtClean="0">
                <a:latin typeface="Rubik" pitchFamily="2" charset="-79"/>
                <a:cs typeface="Rubik" pitchFamily="2" charset="-79"/>
              </a:rPr>
              <a:t>В этой презентации мы разберем основные темы такие как:</a:t>
            </a:r>
            <a:endParaRPr lang="en-US" dirty="0" smtClean="0">
              <a:latin typeface="Rubik" pitchFamily="2" charset="-79"/>
              <a:cs typeface="Rubik" pitchFamily="2" charset="-79"/>
            </a:endParaRPr>
          </a:p>
          <a:p>
            <a:pPr>
              <a:lnSpc>
                <a:spcPct val="150000"/>
              </a:lnSpc>
            </a:pPr>
            <a:r>
              <a:rPr lang="ru-RU" dirty="0" smtClean="0">
                <a:latin typeface="Rubik" pitchFamily="2" charset="-79"/>
                <a:cs typeface="Rubik" pitchFamily="2" charset="-79"/>
              </a:rPr>
              <a:t>-Источники </a:t>
            </a:r>
            <a:r>
              <a:rPr lang="ru-RU" dirty="0">
                <a:latin typeface="Rubik" pitchFamily="2" charset="-79"/>
                <a:cs typeface="Rubik" pitchFamily="2" charset="-79"/>
              </a:rPr>
              <a:t>данных: Откуда мы берём </a:t>
            </a:r>
            <a:r>
              <a:rPr lang="ru-RU" dirty="0" smtClean="0">
                <a:latin typeface="Rubik" pitchFamily="2" charset="-79"/>
                <a:cs typeface="Rubik" pitchFamily="2" charset="-79"/>
              </a:rPr>
              <a:t>информацию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Rubik" pitchFamily="2" charset="-79"/>
                <a:cs typeface="Rubik" pitchFamily="2" charset="-79"/>
              </a:rPr>
              <a:t>-Приёмники данных: Куда мы кладём </a:t>
            </a:r>
            <a:r>
              <a:rPr lang="ru-RU" dirty="0" smtClean="0">
                <a:latin typeface="Rubik" pitchFamily="2" charset="-79"/>
                <a:cs typeface="Rubik" pitchFamily="2" charset="-79"/>
              </a:rPr>
              <a:t>информацию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Rubik" pitchFamily="2" charset="-79"/>
                <a:cs typeface="Rubik" pitchFamily="2" charset="-79"/>
              </a:rPr>
              <a:t>-Сопоставление объектов данных (Data </a:t>
            </a:r>
            <a:r>
              <a:rPr lang="ru-RU" dirty="0" smtClean="0">
                <a:latin typeface="Rubik" pitchFamily="2" charset="-79"/>
                <a:cs typeface="Rubik" pitchFamily="2" charset="-79"/>
              </a:rPr>
              <a:t>Mapping)</a:t>
            </a:r>
          </a:p>
          <a:p>
            <a:pPr>
              <a:lnSpc>
                <a:spcPct val="150000"/>
              </a:lnSpc>
            </a:pPr>
            <a:r>
              <a:rPr lang="ru-RU" dirty="0" smtClean="0">
                <a:latin typeface="Rubik" pitchFamily="2" charset="-79"/>
                <a:cs typeface="Rubik" pitchFamily="2" charset="-79"/>
              </a:rPr>
              <a:t>-Что такое </a:t>
            </a:r>
            <a:r>
              <a:rPr lang="en-US" dirty="0" smtClean="0">
                <a:latin typeface="Rubik" pitchFamily="2" charset="-79"/>
                <a:cs typeface="Rubik" pitchFamily="2" charset="-79"/>
              </a:rPr>
              <a:t>CRM, API</a:t>
            </a:r>
            <a:endParaRPr lang="ru-RU" dirty="0" smtClean="0">
              <a:latin typeface="Rubik" pitchFamily="2" charset="-79"/>
              <a:cs typeface="Rubik" pitchFamily="2" charset="-79"/>
            </a:endParaRPr>
          </a:p>
          <a:p>
            <a:pPr>
              <a:lnSpc>
                <a:spcPct val="150000"/>
              </a:lnSpc>
            </a:pPr>
            <a:r>
              <a:rPr lang="ru-RU" dirty="0" smtClean="0">
                <a:latin typeface="Rubik" pitchFamily="2" charset="-79"/>
                <a:cs typeface="Rubik" pitchFamily="2" charset="-79"/>
              </a:rPr>
              <a:t>-</a:t>
            </a:r>
            <a:r>
              <a:rPr lang="en-US" dirty="0" smtClean="0">
                <a:latin typeface="Rubik" pitchFamily="2" charset="-79"/>
                <a:cs typeface="Rubik" pitchFamily="2" charset="-79"/>
              </a:rPr>
              <a:t>Data Mampping</a:t>
            </a:r>
            <a:r>
              <a:rPr lang="ru-RU" dirty="0" smtClean="0">
                <a:latin typeface="Rubik" pitchFamily="2" charset="-79"/>
                <a:cs typeface="Rubik" pitchFamily="2" charset="-79"/>
              </a:rPr>
              <a:t>: что это и зачем</a:t>
            </a:r>
          </a:p>
          <a:p>
            <a:pPr>
              <a:lnSpc>
                <a:spcPct val="150000"/>
              </a:lnSpc>
            </a:pPr>
            <a:r>
              <a:rPr lang="ru-RU" dirty="0" smtClean="0">
                <a:latin typeface="Rubik" pitchFamily="2" charset="-79"/>
                <a:cs typeface="Rubik" pitchFamily="2" charset="-79"/>
              </a:rPr>
              <a:t>-Этапы сопоставления</a:t>
            </a:r>
          </a:p>
          <a:p>
            <a:pPr>
              <a:lnSpc>
                <a:spcPct val="150000"/>
              </a:lnSpc>
            </a:pPr>
            <a:r>
              <a:rPr lang="ru-RU" dirty="0" smtClean="0">
                <a:latin typeface="Rubik" pitchFamily="2" charset="-79"/>
                <a:cs typeface="Rubik" pitchFamily="2" charset="-79"/>
              </a:rPr>
              <a:t>-Риски и способы минимизации</a:t>
            </a:r>
            <a:endParaRPr lang="ru-RU" dirty="0">
              <a:latin typeface="Rubik" pitchFamily="2" charset="-79"/>
              <a:cs typeface="Rubik" pitchFamily="2" charset="-79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ru-RU" dirty="0" smtClean="0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40" y="747602"/>
            <a:ext cx="1296144" cy="890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4426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1268760"/>
            <a:ext cx="2270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Rubik" pitchFamily="2" charset="-79"/>
                <a:cs typeface="Rubik" pitchFamily="2" charset="-79"/>
              </a:rPr>
              <a:t>Источники данных</a:t>
            </a:r>
          </a:p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39552" y="1772816"/>
            <a:ext cx="767549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 smtClean="0"/>
              <a:t>Источники данных можно разделить на:</a:t>
            </a:r>
          </a:p>
          <a:p>
            <a:pPr>
              <a:lnSpc>
                <a:spcPct val="150000"/>
              </a:lnSpc>
            </a:pPr>
            <a:r>
              <a:rPr lang="ru-RU" dirty="0"/>
              <a:t>П</a:t>
            </a:r>
            <a:r>
              <a:rPr lang="ru-RU" dirty="0" smtClean="0"/>
              <a:t>исьменные, устные и электронные</a:t>
            </a:r>
          </a:p>
          <a:p>
            <a:pPr>
              <a:lnSpc>
                <a:spcPct val="150000"/>
              </a:lnSpc>
            </a:pPr>
            <a:r>
              <a:rPr lang="ru-RU" dirty="0" smtClean="0"/>
              <a:t>А также на основанные на реальных объектах и человеческом опыте </a:t>
            </a:r>
          </a:p>
          <a:p>
            <a:pPr>
              <a:lnSpc>
                <a:spcPct val="150000"/>
              </a:lnSpc>
            </a:pPr>
            <a:r>
              <a:rPr lang="ru-RU" dirty="0" smtClean="0"/>
              <a:t>К письменным относяться - книги, журналы, и архивы.</a:t>
            </a:r>
          </a:p>
          <a:p>
            <a:pPr>
              <a:lnSpc>
                <a:spcPct val="150000"/>
              </a:lnSpc>
            </a:pPr>
            <a:r>
              <a:rPr lang="ru-RU" dirty="0" smtClean="0"/>
              <a:t>К устным относяться – речь и интервью.</a:t>
            </a:r>
          </a:p>
          <a:p>
            <a:pPr>
              <a:lnSpc>
                <a:spcPct val="150000"/>
              </a:lnSpc>
            </a:pPr>
            <a:r>
              <a:rPr lang="ru-RU" dirty="0" smtClean="0"/>
              <a:t>К электронным – интернет, базы данных и мультимедийные файлы.</a:t>
            </a:r>
            <a:endParaRPr lang="ru-RU" dirty="0"/>
          </a:p>
        </p:txBody>
      </p:sp>
      <p:pic>
        <p:nvPicPr>
          <p:cNvPr id="3074" name="Picture 2" descr="https://avatars.mds.yandex.net/i?id=7a9fa788a5d63b4402d546f05e2c750f26b824bd-10151263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4358139"/>
            <a:ext cx="8424936" cy="2276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94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5" y="1628800"/>
            <a:ext cx="59766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Rubik" pitchFamily="2" charset="-79"/>
                <a:cs typeface="Rubik" pitchFamily="2" charset="-79"/>
              </a:rPr>
              <a:t>Приёмники данных — это устройства или системы</a:t>
            </a:r>
            <a:r>
              <a:rPr lang="ru-RU" dirty="0" smtClean="0">
                <a:latin typeface="Rubik" pitchFamily="2" charset="-79"/>
                <a:cs typeface="Rubik" pitchFamily="2" charset="-79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ru-RU" dirty="0" smtClean="0">
                <a:latin typeface="Rubik" pitchFamily="2" charset="-79"/>
                <a:cs typeface="Rubik" pitchFamily="2" charset="-79"/>
              </a:rPr>
              <a:t>в </a:t>
            </a:r>
            <a:r>
              <a:rPr lang="ru-RU" dirty="0">
                <a:latin typeface="Rubik" pitchFamily="2" charset="-79"/>
                <a:cs typeface="Rubik" pitchFamily="2" charset="-79"/>
              </a:rPr>
              <a:t>которых мы храним информацию: </a:t>
            </a:r>
            <a:endParaRPr lang="ru-RU" dirty="0" smtClean="0">
              <a:latin typeface="Rubik" pitchFamily="2" charset="-79"/>
              <a:cs typeface="Rubik" pitchFamily="2" charset="-79"/>
            </a:endParaRPr>
          </a:p>
          <a:p>
            <a:pPr>
              <a:lnSpc>
                <a:spcPct val="150000"/>
              </a:lnSpc>
            </a:pPr>
            <a:r>
              <a:rPr lang="ru-RU" dirty="0" smtClean="0">
                <a:latin typeface="Rubik" pitchFamily="2" charset="-79"/>
                <a:cs typeface="Rubik" pitchFamily="2" charset="-79"/>
              </a:rPr>
              <a:t>- жёсткие диски</a:t>
            </a:r>
          </a:p>
          <a:p>
            <a:pPr>
              <a:lnSpc>
                <a:spcPct val="150000"/>
              </a:lnSpc>
            </a:pPr>
            <a:r>
              <a:rPr lang="ru-RU" dirty="0" smtClean="0">
                <a:latin typeface="Rubik" pitchFamily="2" charset="-79"/>
                <a:cs typeface="Rubik" pitchFamily="2" charset="-79"/>
              </a:rPr>
              <a:t>- облачные хранилища</a:t>
            </a:r>
          </a:p>
          <a:p>
            <a:pPr>
              <a:lnSpc>
                <a:spcPct val="150000"/>
              </a:lnSpc>
            </a:pPr>
            <a:r>
              <a:rPr lang="ru-RU" dirty="0" smtClean="0">
                <a:latin typeface="Rubik" pitchFamily="2" charset="-79"/>
                <a:cs typeface="Rubik" pitchFamily="2" charset="-79"/>
              </a:rPr>
              <a:t>-</a:t>
            </a:r>
            <a:r>
              <a:rPr lang="ru-RU" dirty="0">
                <a:latin typeface="Rubik" pitchFamily="2" charset="-79"/>
                <a:cs typeface="Rubik" pitchFamily="2" charset="-79"/>
              </a:rPr>
              <a:t> </a:t>
            </a:r>
            <a:r>
              <a:rPr lang="ru-RU" dirty="0" smtClean="0">
                <a:latin typeface="Rubik" pitchFamily="2" charset="-79"/>
                <a:cs typeface="Rubik" pitchFamily="2" charset="-79"/>
              </a:rPr>
              <a:t>флешки </a:t>
            </a:r>
            <a:r>
              <a:rPr lang="ru-RU" dirty="0">
                <a:latin typeface="Rubik" pitchFamily="2" charset="-79"/>
                <a:cs typeface="Rubik" pitchFamily="2" charset="-79"/>
              </a:rPr>
              <a:t>или базы данных. </a:t>
            </a:r>
            <a:endParaRPr lang="ru-RU" dirty="0" smtClean="0">
              <a:latin typeface="Rubik" pitchFamily="2" charset="-79"/>
              <a:cs typeface="Rubik" pitchFamily="2" charset="-79"/>
            </a:endParaRPr>
          </a:p>
          <a:p>
            <a:pPr>
              <a:lnSpc>
                <a:spcPct val="150000"/>
              </a:lnSpc>
            </a:pPr>
            <a:r>
              <a:rPr lang="ru-RU" dirty="0" smtClean="0">
                <a:latin typeface="Rubik" pitchFamily="2" charset="-79"/>
                <a:cs typeface="Rubik" pitchFamily="2" charset="-79"/>
              </a:rPr>
              <a:t>Они </a:t>
            </a:r>
            <a:r>
              <a:rPr lang="ru-RU" dirty="0">
                <a:latin typeface="Rubik" pitchFamily="2" charset="-79"/>
                <a:cs typeface="Rubik" pitchFamily="2" charset="-79"/>
              </a:rPr>
              <a:t>обеспечивают долговременное хранение данных </a:t>
            </a:r>
            <a:endParaRPr lang="ru-RU" dirty="0" smtClean="0">
              <a:latin typeface="Rubik" pitchFamily="2" charset="-79"/>
              <a:cs typeface="Rubik" pitchFamily="2" charset="-79"/>
            </a:endParaRPr>
          </a:p>
          <a:p>
            <a:pPr>
              <a:lnSpc>
                <a:spcPct val="150000"/>
              </a:lnSpc>
            </a:pPr>
            <a:r>
              <a:rPr lang="ru-RU" dirty="0" smtClean="0">
                <a:latin typeface="Rubik" pitchFamily="2" charset="-79"/>
                <a:cs typeface="Rubik" pitchFamily="2" charset="-79"/>
              </a:rPr>
              <a:t>и </a:t>
            </a:r>
            <a:r>
              <a:rPr lang="ru-RU" dirty="0">
                <a:latin typeface="Rubik" pitchFamily="2" charset="-79"/>
                <a:cs typeface="Rubik" pitchFamily="2" charset="-79"/>
              </a:rPr>
              <a:t>быстрый доступ к ним.</a:t>
            </a:r>
          </a:p>
          <a:p>
            <a:pPr>
              <a:lnSpc>
                <a:spcPct val="150000"/>
              </a:lnSpc>
            </a:pP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574552" y="1052736"/>
            <a:ext cx="24096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Rubik" pitchFamily="2" charset="-79"/>
                <a:cs typeface="Rubik" pitchFamily="2" charset="-79"/>
              </a:rPr>
              <a:t>Приёмники </a:t>
            </a:r>
            <a:r>
              <a:rPr lang="ru-RU" dirty="0" smtClean="0">
                <a:latin typeface="Rubik" pitchFamily="2" charset="-79"/>
                <a:cs typeface="Rubik" pitchFamily="2" charset="-79"/>
              </a:rPr>
              <a:t>данных.</a:t>
            </a:r>
            <a:endParaRPr lang="ru-RU" dirty="0">
              <a:latin typeface="Rubik" pitchFamily="2" charset="-79"/>
              <a:cs typeface="Rubik" pitchFamily="2" charset="-79"/>
            </a:endParaRPr>
          </a:p>
          <a:p>
            <a:r>
              <a:rPr lang="ru-RU" dirty="0">
                <a:latin typeface="Rubik" pitchFamily="2" charset="-79"/>
                <a:cs typeface="Rubik" pitchFamily="2" charset="-79"/>
              </a:rPr>
              <a:t/>
            </a:r>
            <a:br>
              <a:rPr lang="ru-RU" dirty="0">
                <a:latin typeface="Rubik" pitchFamily="2" charset="-79"/>
                <a:cs typeface="Rubik" pitchFamily="2" charset="-79"/>
              </a:rPr>
            </a:br>
            <a:endParaRPr lang="ru-RU" dirty="0">
              <a:latin typeface="Rubik" pitchFamily="2" charset="-79"/>
              <a:cs typeface="Rubik" pitchFamily="2" charset="-79"/>
            </a:endParaRPr>
          </a:p>
        </p:txBody>
      </p:sp>
      <p:pic>
        <p:nvPicPr>
          <p:cNvPr id="4098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221088"/>
            <a:ext cx="3632872" cy="175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Program Files (x86)\Microsoft Office\MEDIA\CAGCAT10\j0300520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43161"/>
            <a:ext cx="95250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694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avatars.mds.yandex.net/i?id=a571d17685c3b8ae889b9f8b08ab7446c6c66c95-4256054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36712"/>
            <a:ext cx="8712968" cy="54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777049" y="1292574"/>
            <a:ext cx="373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Сопоставление объектов данных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187624" y="1988840"/>
            <a:ext cx="752641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Сопоставление объектов данных (Data Mapping</a:t>
            </a:r>
            <a:r>
              <a:rPr lang="ru-RU" b="1" dirty="0" smtClean="0"/>
              <a:t>)</a:t>
            </a:r>
          </a:p>
          <a:p>
            <a:r>
              <a:rPr lang="ru-RU" dirty="0" smtClean="0"/>
              <a:t> </a:t>
            </a:r>
            <a:r>
              <a:rPr lang="ru-RU" dirty="0"/>
              <a:t>— это процесс установления соответствия </a:t>
            </a:r>
            <a:r>
              <a:rPr lang="ru-RU" dirty="0" smtClean="0"/>
              <a:t>между </a:t>
            </a:r>
            <a:r>
              <a:rPr lang="ru-RU" dirty="0"/>
              <a:t>полями </a:t>
            </a:r>
            <a:endParaRPr lang="ru-RU" dirty="0" smtClean="0"/>
          </a:p>
          <a:p>
            <a:r>
              <a:rPr lang="ru-RU" dirty="0" smtClean="0"/>
              <a:t>и </a:t>
            </a:r>
            <a:r>
              <a:rPr lang="ru-RU" dirty="0"/>
              <a:t>структурами данных в разных системах или источниках</a:t>
            </a:r>
            <a:r>
              <a:rPr lang="ru-RU" dirty="0" smtClean="0"/>
              <a:t>.</a:t>
            </a:r>
          </a:p>
          <a:p>
            <a:r>
              <a:rPr lang="ru-RU" dirty="0" smtClean="0"/>
              <a:t>Он </a:t>
            </a:r>
            <a:r>
              <a:rPr lang="ru-RU" dirty="0"/>
              <a:t>необходим для обмена, интеграции и преобразования данных, </a:t>
            </a:r>
            <a:endParaRPr lang="ru-RU" dirty="0" smtClean="0"/>
          </a:p>
          <a:p>
            <a:r>
              <a:rPr lang="ru-RU" dirty="0" smtClean="0"/>
              <a:t>чтобы </a:t>
            </a:r>
            <a:r>
              <a:rPr lang="ru-RU" dirty="0"/>
              <a:t>обеспечить их правильное понимание и использование. </a:t>
            </a:r>
            <a:endParaRPr lang="ru-RU" dirty="0" smtClean="0"/>
          </a:p>
          <a:p>
            <a:r>
              <a:rPr lang="ru-RU" dirty="0" smtClean="0"/>
              <a:t>Например</a:t>
            </a:r>
            <a:r>
              <a:rPr lang="ru-RU" dirty="0"/>
              <a:t>, сопоставление поля «Имя»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одной системе с полем «Полное имя»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другой позволяет правильно объединять и обрабатывать данные. </a:t>
            </a:r>
            <a:endParaRPr lang="ru-RU" dirty="0" smtClean="0"/>
          </a:p>
          <a:p>
            <a:r>
              <a:rPr lang="ru-RU" dirty="0" smtClean="0"/>
              <a:t>Этот </a:t>
            </a:r>
            <a:r>
              <a:rPr lang="ru-RU" dirty="0"/>
              <a:t>процесс помогает </a:t>
            </a:r>
            <a:r>
              <a:rPr lang="ru-RU" dirty="0" smtClean="0"/>
              <a:t>обеспечить </a:t>
            </a:r>
            <a:r>
              <a:rPr lang="ru-RU" dirty="0"/>
              <a:t>совместимость и точность 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/>
              <a:t>работе с разнородной информацией.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257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36096" y="764704"/>
            <a:ext cx="3383280" cy="877824"/>
          </a:xfrm>
        </p:spPr>
        <p:txBody>
          <a:bodyPr/>
          <a:lstStyle/>
          <a:p>
            <a:r>
              <a:rPr lang="ru-RU" dirty="0"/>
              <a:t>Что такое API и CRM?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b="1" dirty="0"/>
              <a:t>API</a:t>
            </a:r>
            <a:r>
              <a:rPr lang="ru-RU" dirty="0"/>
              <a:t> — это интерфейс, который позволяет программам обмениваться данными и взаимодействовать друг с другом.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CRM</a:t>
            </a:r>
            <a:r>
              <a:rPr lang="ru-RU" dirty="0"/>
              <a:t> — это система для управления отношениями с клиентами, которая помогает лучше понимать и обслуживать клиентов.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Почему важно?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API делает интеграцию и автоматизацию проще, а CRM помогает увеличивать продажи и укреплять связи с клиентами.</a:t>
            </a:r>
          </a:p>
          <a:p>
            <a:pPr>
              <a:lnSpc>
                <a:spcPct val="150000"/>
              </a:lnSpc>
            </a:pPr>
            <a:endParaRPr lang="ru-RU" dirty="0"/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656" y="3645024"/>
            <a:ext cx="3792287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 descr="https://avatars.mds.yandex.net/i?id=f0e3af47024d6f881fdcbc6a0d6636fbdf015f5c-9225598-images-thumbs&amp;n=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80728"/>
            <a:ext cx="3744416" cy="254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147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1"/>
                </a:solidFill>
                <a:latin typeface="Rubik" pitchFamily="2" charset="-79"/>
                <a:cs typeface="Rubik" pitchFamily="2" charset="-79"/>
              </a:rPr>
              <a:t>Что такое Data Mapping и зачем он нужен?</a:t>
            </a:r>
            <a:endParaRPr lang="ru-RU" dirty="0">
              <a:solidFill>
                <a:schemeClr val="tx1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2000" dirty="0" smtClean="0">
                <a:latin typeface="Rubik" pitchFamily="2" charset="-79"/>
                <a:cs typeface="Rubik" pitchFamily="2" charset="-79"/>
              </a:rPr>
              <a:t>           Data </a:t>
            </a:r>
            <a:r>
              <a:rPr lang="ru-RU" sz="2000" dirty="0">
                <a:latin typeface="Rubik" pitchFamily="2" charset="-79"/>
                <a:cs typeface="Rubik" pitchFamily="2" charset="-79"/>
              </a:rPr>
              <a:t>Mapping — это процесс сопоставления </a:t>
            </a:r>
            <a:r>
              <a:rPr lang="ru-RU" sz="2000" dirty="0" smtClean="0">
                <a:latin typeface="Rubik" pitchFamily="2" charset="-79"/>
                <a:cs typeface="Rubik" pitchFamily="2" charset="-79"/>
              </a:rPr>
              <a:t>данных</a:t>
            </a:r>
          </a:p>
          <a:p>
            <a:pPr>
              <a:lnSpc>
                <a:spcPct val="150000"/>
              </a:lnSpc>
            </a:pPr>
            <a:r>
              <a:rPr lang="ru-RU" sz="2000" dirty="0" smtClean="0">
                <a:latin typeface="Rubik" pitchFamily="2" charset="-79"/>
                <a:cs typeface="Rubik" pitchFamily="2" charset="-79"/>
              </a:rPr>
              <a:t>одной </a:t>
            </a:r>
            <a:r>
              <a:rPr lang="ru-RU" sz="2000" dirty="0">
                <a:latin typeface="Rubik" pitchFamily="2" charset="-79"/>
                <a:cs typeface="Rubik" pitchFamily="2" charset="-79"/>
              </a:rPr>
              <a:t>системы с другой. Он нужен, чтобы обеспечить </a:t>
            </a:r>
            <a:r>
              <a:rPr lang="ru-RU" sz="2000" dirty="0" smtClean="0">
                <a:latin typeface="Rubik" pitchFamily="2" charset="-79"/>
                <a:cs typeface="Rubik" pitchFamily="2" charset="-79"/>
              </a:rPr>
              <a:t>                     правильную </a:t>
            </a:r>
            <a:r>
              <a:rPr lang="ru-RU" sz="2000" dirty="0">
                <a:latin typeface="Rubik" pitchFamily="2" charset="-79"/>
                <a:cs typeface="Rubik" pitchFamily="2" charset="-79"/>
              </a:rPr>
              <a:t>передачу, интеграцию и автоматизацию </a:t>
            </a:r>
            <a:endParaRPr lang="ru-RU" sz="2000" dirty="0">
              <a:latin typeface="Rubik" pitchFamily="2" charset="-79"/>
              <a:cs typeface="Rubik" pitchFamily="2" charset="-79"/>
            </a:endParaRPr>
          </a:p>
          <a:p>
            <a:pPr>
              <a:lnSpc>
                <a:spcPct val="150000"/>
              </a:lnSpc>
            </a:pPr>
            <a:r>
              <a:rPr lang="ru-RU" sz="2000" dirty="0" smtClean="0">
                <a:latin typeface="Rubik" pitchFamily="2" charset="-79"/>
                <a:cs typeface="Rubik" pitchFamily="2" charset="-79"/>
              </a:rPr>
              <a:t>работы </a:t>
            </a:r>
            <a:r>
              <a:rPr lang="ru-RU" sz="2000" dirty="0">
                <a:latin typeface="Rubik" pitchFamily="2" charset="-79"/>
                <a:cs typeface="Rubik" pitchFamily="2" charset="-79"/>
              </a:rPr>
              <a:t>с данными. Благодаря Data Mapping данные передаются точно и без ошибок, что важно для бизнес-процессов и миграции информации</a:t>
            </a:r>
            <a:r>
              <a:rPr lang="ru-RU" sz="2000" dirty="0" smtClean="0">
                <a:latin typeface="Rubik" pitchFamily="2" charset="-79"/>
                <a:cs typeface="Rubik" pitchFamily="2" charset="-79"/>
              </a:rPr>
              <a:t>.</a:t>
            </a:r>
          </a:p>
          <a:p>
            <a:pPr>
              <a:lnSpc>
                <a:spcPct val="150000"/>
              </a:lnSpc>
            </a:pPr>
            <a:endParaRPr lang="ru-RU" sz="2000" dirty="0">
              <a:latin typeface="Rubik" pitchFamily="2" charset="-79"/>
              <a:cs typeface="Rubik" pitchFamily="2" charset="-79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877" y="4725144"/>
            <a:ext cx="3096344" cy="1861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1002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ородская">
  <a:themeElements>
    <a:clrScheme name="Городская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Городская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Город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144</TotalTime>
  <Words>354</Words>
  <Application>Microsoft Office PowerPoint</Application>
  <PresentationFormat>Экран (4:3)</PresentationFormat>
  <Paragraphs>52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Городская</vt:lpstr>
      <vt:lpstr>Выбор источникови приема данных. Сопопставление объектов данных </vt:lpstr>
      <vt:lpstr>Презентация PowerPoint</vt:lpstr>
      <vt:lpstr>Презентация PowerPoint</vt:lpstr>
      <vt:lpstr>Презентация PowerPoint</vt:lpstr>
      <vt:lpstr>Презентация PowerPoint</vt:lpstr>
      <vt:lpstr>Что такое API и CRM?</vt:lpstr>
      <vt:lpstr>Что такое Data Mapping и зачем он нужен?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Выбор источникови приема данных. Сопопставление объектов данных </dc:title>
  <dc:creator>as32</dc:creator>
  <cp:lastModifiedBy>Косач</cp:lastModifiedBy>
  <cp:revision>12</cp:revision>
  <dcterms:created xsi:type="dcterms:W3CDTF">2025-11-24T09:35:51Z</dcterms:created>
  <dcterms:modified xsi:type="dcterms:W3CDTF">2025-11-24T12:12:13Z</dcterms:modified>
</cp:coreProperties>
</file>